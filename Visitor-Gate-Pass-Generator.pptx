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</p:sldIdLst>
  <p:sldSz cx="14630400" cy="8229600"/>
  <p:notesSz cx="8229600" cy="14630400"/>
  <p:embeddedFontLst>
    <p:embeddedFont>
      <p:font typeface="Quattrocento" panose="02020502030000000404" pitchFamily="18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358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5930A52-7C51-B589-DC3C-BF20B457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1E29EDE-19EE-E965-0218-23A8B5D4145F}"/>
              </a:ext>
            </a:extLst>
          </p:cNvPr>
          <p:cNvSpPr/>
          <p:nvPr/>
        </p:nvSpPr>
        <p:spPr>
          <a:xfrm>
            <a:off x="837724" y="2072164"/>
            <a:ext cx="6025991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Visitor Gate Pass Generator</a:t>
            </a:r>
            <a:endParaRPr lang="en-US" sz="3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DEC6A8D-E152-1724-D650-EC57787E5049}"/>
              </a:ext>
            </a:extLst>
          </p:cNvPr>
          <p:cNvSpPr/>
          <p:nvPr/>
        </p:nvSpPr>
        <p:spPr>
          <a:xfrm>
            <a:off x="837724" y="3002161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digital solution for managing visitor entry using HTML, CSS, and JavaScript</a:t>
            </a:r>
            <a:endParaRPr lang="en-US" sz="1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0BF0BF0-8B9C-7495-F873-E79E0B0AD072}"/>
              </a:ext>
            </a:extLst>
          </p:cNvPr>
          <p:cNvSpPr/>
          <p:nvPr/>
        </p:nvSpPr>
        <p:spPr>
          <a:xfrm>
            <a:off x="837724" y="3572828"/>
            <a:ext cx="7468553" cy="1187529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B2FCD1B-713A-5E98-DC94-9D1F72C2C137}"/>
              </a:ext>
            </a:extLst>
          </p:cNvPr>
          <p:cNvSpPr/>
          <p:nvPr/>
        </p:nvSpPr>
        <p:spPr>
          <a:xfrm>
            <a:off x="1047155" y="378225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Team Members</a:t>
            </a:r>
            <a:endParaRPr lang="en-US" sz="1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6CE7097-96F0-505B-8EF9-806BDCDA5715}"/>
              </a:ext>
            </a:extLst>
          </p:cNvPr>
          <p:cNvSpPr/>
          <p:nvPr/>
        </p:nvSpPr>
        <p:spPr>
          <a:xfrm>
            <a:off x="1047155" y="4215884"/>
            <a:ext cx="704969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R. Jishnu Tej • A. Nivvi • B. Prasanna Satvika • T. Manojna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3BF4013-87A4-AE41-647D-AC73DFDCDD81}"/>
              </a:ext>
            </a:extLst>
          </p:cNvPr>
          <p:cNvSpPr/>
          <p:nvPr/>
        </p:nvSpPr>
        <p:spPr>
          <a:xfrm>
            <a:off x="837724" y="4969788"/>
            <a:ext cx="7468553" cy="1187529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0EBE365-EE74-B282-FDC2-3F02AE13F530}"/>
              </a:ext>
            </a:extLst>
          </p:cNvPr>
          <p:cNvSpPr/>
          <p:nvPr/>
        </p:nvSpPr>
        <p:spPr>
          <a:xfrm>
            <a:off x="1047155" y="517921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College</a:t>
            </a:r>
            <a:endParaRPr lang="en-US" sz="1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37DCAC4-C1A5-EC9D-1B4D-66203821CFFB}"/>
              </a:ext>
            </a:extLst>
          </p:cNvPr>
          <p:cNvSpPr/>
          <p:nvPr/>
        </p:nvSpPr>
        <p:spPr>
          <a:xfrm>
            <a:off x="1047155" y="5612844"/>
            <a:ext cx="704969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Pragati Engineering College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3465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3EB4C0B-3674-92C9-1B64-4083231D1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109C2F5-60B0-7A6E-591F-8DA2ABEB2E0E}"/>
              </a:ext>
            </a:extLst>
          </p:cNvPr>
          <p:cNvSpPr/>
          <p:nvPr/>
        </p:nvSpPr>
        <p:spPr>
          <a:xfrm>
            <a:off x="837724" y="2186940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Introduction</a:t>
            </a:r>
            <a:endParaRPr lang="en-US" sz="3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F410560-C476-242E-7435-6F5561690521}"/>
              </a:ext>
            </a:extLst>
          </p:cNvPr>
          <p:cNvSpPr/>
          <p:nvPr/>
        </p:nvSpPr>
        <p:spPr>
          <a:xfrm>
            <a:off x="837724" y="332636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30DFA93-161A-97A1-4BCE-5EF0A9504978}"/>
              </a:ext>
            </a:extLst>
          </p:cNvPr>
          <p:cNvSpPr/>
          <p:nvPr/>
        </p:nvSpPr>
        <p:spPr>
          <a:xfrm>
            <a:off x="837724" y="3843814"/>
            <a:ext cx="3478768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Manual visitor entry systems are time-consuming, prone to errors, and difficult to track. Paper-based logs make it challenging to search for past visitors or generate reports efficiently.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3A6B9FC-71D2-8D9E-9DAF-E1542EF65AA5}"/>
              </a:ext>
            </a:extLst>
          </p:cNvPr>
          <p:cNvSpPr/>
          <p:nvPr/>
        </p:nvSpPr>
        <p:spPr>
          <a:xfrm>
            <a:off x="4835128" y="332636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DFEA2D9-340E-E06D-459E-1A4455117FC6}"/>
              </a:ext>
            </a:extLst>
          </p:cNvPr>
          <p:cNvSpPr/>
          <p:nvPr/>
        </p:nvSpPr>
        <p:spPr>
          <a:xfrm>
            <a:off x="4835128" y="3843814"/>
            <a:ext cx="3478768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digital gate pass generator that automates visitor registration, creates scannable QR codes, and maintains searchable visitor logs for improved security and efficiency.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EFEFD-F391-1C9B-FEC0-E5C43FE6E3C6}"/>
              </a:ext>
            </a:extLst>
          </p:cNvPr>
          <p:cNvSpPr/>
          <p:nvPr/>
        </p:nvSpPr>
        <p:spPr>
          <a:xfrm>
            <a:off x="4560849" y="1048215"/>
            <a:ext cx="3992136" cy="2068722"/>
          </a:xfrm>
          <a:prstGeom prst="rect">
            <a:avLst/>
          </a:prstGeom>
          <a:solidFill>
            <a:srgbClr val="1233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53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1BF2E0-35F9-2AC4-9798-27D443B3DDD0}"/>
              </a:ext>
            </a:extLst>
          </p:cNvPr>
          <p:cNvSpPr/>
          <p:nvPr/>
        </p:nvSpPr>
        <p:spPr>
          <a:xfrm>
            <a:off x="837724" y="1916073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Objectives</a:t>
            </a:r>
            <a:endParaRPr lang="en-US" sz="3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B1936A-BBA3-8B07-ABAA-8D4132723D8D}"/>
              </a:ext>
            </a:extLst>
          </p:cNvPr>
          <p:cNvSpPr/>
          <p:nvPr/>
        </p:nvSpPr>
        <p:spPr>
          <a:xfrm>
            <a:off x="837724" y="2950845"/>
            <a:ext cx="418862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C4BBE9-0A9F-13A2-1A88-0EA486F4DDA2}"/>
              </a:ext>
            </a:extLst>
          </p:cNvPr>
          <p:cNvSpPr/>
          <p:nvPr/>
        </p:nvSpPr>
        <p:spPr>
          <a:xfrm>
            <a:off x="837724" y="3283863"/>
            <a:ext cx="6372701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F703CE-1303-6096-8B4C-DCDF3F3127F1}"/>
              </a:ext>
            </a:extLst>
          </p:cNvPr>
          <p:cNvSpPr/>
          <p:nvPr/>
        </p:nvSpPr>
        <p:spPr>
          <a:xfrm>
            <a:off x="837724" y="3434239"/>
            <a:ext cx="256103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 Visitor Passes</a:t>
            </a:r>
            <a:endParaRPr lang="en-US" sz="1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775DD5-70CF-353A-A82A-6A3A18A45371}"/>
              </a:ext>
            </a:extLst>
          </p:cNvPr>
          <p:cNvSpPr/>
          <p:nvPr/>
        </p:nvSpPr>
        <p:spPr>
          <a:xfrm>
            <a:off x="837724" y="3867864"/>
            <a:ext cx="637270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 professional, printable visitor passes with unique identification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82D395-792C-8AFA-C771-17E1860288AB}"/>
              </a:ext>
            </a:extLst>
          </p:cNvPr>
          <p:cNvSpPr/>
          <p:nvPr/>
        </p:nvSpPr>
        <p:spPr>
          <a:xfrm>
            <a:off x="7419856" y="2950845"/>
            <a:ext cx="418862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EE4DA2-F071-D7DE-E8E1-5536D3DD6DE7}"/>
              </a:ext>
            </a:extLst>
          </p:cNvPr>
          <p:cNvSpPr/>
          <p:nvPr/>
        </p:nvSpPr>
        <p:spPr>
          <a:xfrm>
            <a:off x="7419856" y="3283863"/>
            <a:ext cx="6372820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2E7AA50-D8E5-8F60-0FA7-A4ADA01A0647}"/>
              </a:ext>
            </a:extLst>
          </p:cNvPr>
          <p:cNvSpPr/>
          <p:nvPr/>
        </p:nvSpPr>
        <p:spPr>
          <a:xfrm>
            <a:off x="7419856" y="343423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Store Visitor Data</a:t>
            </a:r>
            <a:endParaRPr lang="en-US" sz="1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8BC887-F743-BD52-17F2-756C8C103E50}"/>
              </a:ext>
            </a:extLst>
          </p:cNvPr>
          <p:cNvSpPr/>
          <p:nvPr/>
        </p:nvSpPr>
        <p:spPr>
          <a:xfrm>
            <a:off x="7419856" y="3867864"/>
            <a:ext cx="63728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Maintain comprehensive records of all visitor entries and exits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D0F827-6EA8-00CC-36E7-9A226591CF9E}"/>
              </a:ext>
            </a:extLst>
          </p:cNvPr>
          <p:cNvSpPr/>
          <p:nvPr/>
        </p:nvSpPr>
        <p:spPr>
          <a:xfrm>
            <a:off x="837724" y="4904423"/>
            <a:ext cx="418862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39C199D-4A16-E828-9ECE-2557F1179F94}"/>
              </a:ext>
            </a:extLst>
          </p:cNvPr>
          <p:cNvSpPr/>
          <p:nvPr/>
        </p:nvSpPr>
        <p:spPr>
          <a:xfrm>
            <a:off x="837724" y="5237440"/>
            <a:ext cx="6372701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4BCC3F-D87F-6461-F1B5-AE65F42C1B71}"/>
              </a:ext>
            </a:extLst>
          </p:cNvPr>
          <p:cNvSpPr/>
          <p:nvPr/>
        </p:nvSpPr>
        <p:spPr>
          <a:xfrm>
            <a:off x="837724" y="538781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Reduce Manual Work</a:t>
            </a:r>
            <a:endParaRPr lang="en-US" sz="1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41ABDA4-BAA1-9F16-6A93-216F1F3ABF2D}"/>
              </a:ext>
            </a:extLst>
          </p:cNvPr>
          <p:cNvSpPr/>
          <p:nvPr/>
        </p:nvSpPr>
        <p:spPr>
          <a:xfrm>
            <a:off x="837724" y="5821442"/>
            <a:ext cx="637270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Eliminate paper-based processes and handwritten logs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4AEEE3-238F-E88F-2411-90FA3149A94E}"/>
              </a:ext>
            </a:extLst>
          </p:cNvPr>
          <p:cNvSpPr/>
          <p:nvPr/>
        </p:nvSpPr>
        <p:spPr>
          <a:xfrm>
            <a:off x="7419856" y="4904423"/>
            <a:ext cx="418862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A388D95-E6E4-B8FC-30C1-68F99123E358}"/>
              </a:ext>
            </a:extLst>
          </p:cNvPr>
          <p:cNvSpPr/>
          <p:nvPr/>
        </p:nvSpPr>
        <p:spPr>
          <a:xfrm>
            <a:off x="7419856" y="5237440"/>
            <a:ext cx="6372820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BEB6675-82BC-A118-87CD-D99F15C45976}"/>
              </a:ext>
            </a:extLst>
          </p:cNvPr>
          <p:cNvSpPr/>
          <p:nvPr/>
        </p:nvSpPr>
        <p:spPr>
          <a:xfrm>
            <a:off x="7419856" y="538781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Improve Efficiency</a:t>
            </a:r>
            <a:endParaRPr lang="en-US" sz="1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36C9686-D09C-E518-2BBC-F25D23EBD9C2}"/>
              </a:ext>
            </a:extLst>
          </p:cNvPr>
          <p:cNvSpPr/>
          <p:nvPr/>
        </p:nvSpPr>
        <p:spPr>
          <a:xfrm>
            <a:off x="7419856" y="5821442"/>
            <a:ext cx="63728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Streamline visitor management with quick data entry and retrieval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7715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4FCDC5-7AE1-8713-F792-BE61D6F833EE}"/>
              </a:ext>
            </a:extLst>
          </p:cNvPr>
          <p:cNvSpPr/>
          <p:nvPr/>
        </p:nvSpPr>
        <p:spPr>
          <a:xfrm>
            <a:off x="837724" y="2284214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Technologies Used</a:t>
            </a:r>
            <a:endParaRPr lang="en-US" sz="38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D2C2F0F-F6F9-95BB-91A7-0C2C9B193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3318986"/>
            <a:ext cx="523637" cy="52363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EBBF6AB-7C06-3E6C-479D-69BA6710D86E}"/>
              </a:ext>
            </a:extLst>
          </p:cNvPr>
          <p:cNvSpPr/>
          <p:nvPr/>
        </p:nvSpPr>
        <p:spPr>
          <a:xfrm>
            <a:off x="1623179" y="331898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HTML</a:t>
            </a:r>
            <a:endParaRPr lang="en-US" sz="1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36E1A0C-5AE5-F078-EA1A-F2601E915713}"/>
              </a:ext>
            </a:extLst>
          </p:cNvPr>
          <p:cNvSpPr/>
          <p:nvPr/>
        </p:nvSpPr>
        <p:spPr>
          <a:xfrm>
            <a:off x="1623179" y="3752612"/>
            <a:ext cx="55610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Structure and content organization for the web application</a:t>
            </a:r>
            <a:endParaRPr lang="en-US" sz="16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57EBCAA-6E53-8266-4E45-180BAD5189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6050" y="3318986"/>
            <a:ext cx="523637" cy="523637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3103EC4D-344C-B989-5EDD-B5EC34B8E9BA}"/>
              </a:ext>
            </a:extLst>
          </p:cNvPr>
          <p:cNvSpPr/>
          <p:nvPr/>
        </p:nvSpPr>
        <p:spPr>
          <a:xfrm>
            <a:off x="8231505" y="331898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CSS</a:t>
            </a:r>
            <a:endParaRPr lang="en-US" sz="19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D94F7CD-E747-DEDA-F717-56BBC96987B9}"/>
              </a:ext>
            </a:extLst>
          </p:cNvPr>
          <p:cNvSpPr/>
          <p:nvPr/>
        </p:nvSpPr>
        <p:spPr>
          <a:xfrm>
            <a:off x="8231505" y="3752612"/>
            <a:ext cx="556117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Styling and responsive design for an attractive user interface</a:t>
            </a:r>
            <a:endParaRPr lang="en-US" sz="16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A4983A8-AA24-C11D-F29D-DA07E98CE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4841558"/>
            <a:ext cx="523637" cy="523637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838AC56D-DA20-6B6D-11B3-E6EF036A5488}"/>
              </a:ext>
            </a:extLst>
          </p:cNvPr>
          <p:cNvSpPr/>
          <p:nvPr/>
        </p:nvSpPr>
        <p:spPr>
          <a:xfrm>
            <a:off x="1623179" y="484155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JavaScript</a:t>
            </a:r>
            <a:endParaRPr lang="en-US" sz="19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40E87C3-427B-EF65-43B5-BC0B00C9FFF8}"/>
              </a:ext>
            </a:extLst>
          </p:cNvPr>
          <p:cNvSpPr/>
          <p:nvPr/>
        </p:nvSpPr>
        <p:spPr>
          <a:xfrm>
            <a:off x="1623179" y="5275183"/>
            <a:ext cx="55610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Core logic for form validation, ID generation, and QR code creation</a:t>
            </a:r>
            <a:endParaRPr lang="en-US" sz="16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4E97CE00-9A73-072E-1161-8763A1103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6050" y="4841558"/>
            <a:ext cx="523637" cy="523637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8C834AB6-7EEE-96FA-1E33-4AB54EE9954A}"/>
              </a:ext>
            </a:extLst>
          </p:cNvPr>
          <p:cNvSpPr/>
          <p:nvPr/>
        </p:nvSpPr>
        <p:spPr>
          <a:xfrm>
            <a:off x="8231505" y="484155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QR Code Library</a:t>
            </a:r>
            <a:endParaRPr lang="en-US" sz="19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9E6351C-6685-DC70-3493-746F979CF0CC}"/>
              </a:ext>
            </a:extLst>
          </p:cNvPr>
          <p:cNvSpPr/>
          <p:nvPr/>
        </p:nvSpPr>
        <p:spPr>
          <a:xfrm>
            <a:off x="8231505" y="5275183"/>
            <a:ext cx="556117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 scannable QR codes for visitor authentication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57176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B182D1-B0CE-1EA4-F228-2D105527744F}"/>
              </a:ext>
            </a:extLst>
          </p:cNvPr>
          <p:cNvSpPr/>
          <p:nvPr/>
        </p:nvSpPr>
        <p:spPr>
          <a:xfrm>
            <a:off x="759262" y="575191"/>
            <a:ext cx="4466273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Overview</a:t>
            </a:r>
            <a:endParaRPr lang="en-US" sz="3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6B9677-7597-15CC-48AB-A4BDE5138D3C}"/>
              </a:ext>
            </a:extLst>
          </p:cNvPr>
          <p:cNvSpPr/>
          <p:nvPr/>
        </p:nvSpPr>
        <p:spPr>
          <a:xfrm>
            <a:off x="759262" y="1477328"/>
            <a:ext cx="13111877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Visitor Gate Pass Generator follows a straightforward workflow to manage visitor entries efficiently.</a:t>
            </a:r>
            <a:endParaRPr lang="en-US" sz="14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31E3E93-5E89-D66F-92F2-AEA65F289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62" y="1960126"/>
            <a:ext cx="949047" cy="1138833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4173FCF-C6C3-8FEE-71CE-F59841CF45A7}"/>
              </a:ext>
            </a:extLst>
          </p:cNvPr>
          <p:cNvSpPr/>
          <p:nvPr/>
        </p:nvSpPr>
        <p:spPr>
          <a:xfrm>
            <a:off x="1880235" y="2149912"/>
            <a:ext cx="223313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Entry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76CF5AE-8392-FCCC-F880-47C212D11D3C}"/>
              </a:ext>
            </a:extLst>
          </p:cNvPr>
          <p:cNvSpPr/>
          <p:nvPr/>
        </p:nvSpPr>
        <p:spPr>
          <a:xfrm>
            <a:off x="1880235" y="2532221"/>
            <a:ext cx="1199090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Visitor information captured through web form</a:t>
            </a:r>
            <a:endParaRPr lang="en-US" sz="14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237CAEE1-E8AF-4D59-304A-EDBF6DF86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62" y="3098959"/>
            <a:ext cx="949047" cy="1138833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D46C0AFC-91D1-C73C-9100-F60E5BFEC0CC}"/>
              </a:ext>
            </a:extLst>
          </p:cNvPr>
          <p:cNvSpPr/>
          <p:nvPr/>
        </p:nvSpPr>
        <p:spPr>
          <a:xfrm>
            <a:off x="1880235" y="3288744"/>
            <a:ext cx="223313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Validation</a:t>
            </a:r>
            <a:endParaRPr lang="en-US" sz="1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0C7F296-9815-6D52-DD69-A95A55EEE8B7}"/>
              </a:ext>
            </a:extLst>
          </p:cNvPr>
          <p:cNvSpPr/>
          <p:nvPr/>
        </p:nvSpPr>
        <p:spPr>
          <a:xfrm>
            <a:off x="1880235" y="3671054"/>
            <a:ext cx="1199090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Input verification and unique ID generation</a:t>
            </a:r>
            <a:endParaRPr lang="en-US" sz="14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9EFE1EC0-1C1B-31CF-1CA7-E1DC3E621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62" y="4237792"/>
            <a:ext cx="949047" cy="1138833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773456E5-A25F-0A9A-93DA-30E34E460D55}"/>
              </a:ext>
            </a:extLst>
          </p:cNvPr>
          <p:cNvSpPr/>
          <p:nvPr/>
        </p:nvSpPr>
        <p:spPr>
          <a:xfrm>
            <a:off x="1880235" y="4427577"/>
            <a:ext cx="223313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QR Creation</a:t>
            </a:r>
            <a:endParaRPr lang="en-US" sz="175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D36B5B3-0918-71CD-2344-AEF822EFE0AE}"/>
              </a:ext>
            </a:extLst>
          </p:cNvPr>
          <p:cNvSpPr/>
          <p:nvPr/>
        </p:nvSpPr>
        <p:spPr>
          <a:xfrm>
            <a:off x="1880235" y="4809887"/>
            <a:ext cx="1199090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 scannable QR code for the pass</a:t>
            </a:r>
            <a:endParaRPr lang="en-US" sz="145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DE6860C9-B054-7975-B8B5-A3A4BB27A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262" y="5376624"/>
            <a:ext cx="949047" cy="1138833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2DC8B1F0-6C1C-FE6F-3181-9F4D629254B6}"/>
              </a:ext>
            </a:extLst>
          </p:cNvPr>
          <p:cNvSpPr/>
          <p:nvPr/>
        </p:nvSpPr>
        <p:spPr>
          <a:xfrm>
            <a:off x="1880235" y="5566410"/>
            <a:ext cx="223313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Storage</a:t>
            </a:r>
            <a:endParaRPr lang="en-US" sz="17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A4DB6CA-3778-C518-84B7-220FEE1535C6}"/>
              </a:ext>
            </a:extLst>
          </p:cNvPr>
          <p:cNvSpPr/>
          <p:nvPr/>
        </p:nvSpPr>
        <p:spPr>
          <a:xfrm>
            <a:off x="1880235" y="5948720"/>
            <a:ext cx="1199090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saved to browser's LocalStorage</a:t>
            </a:r>
            <a:endParaRPr lang="en-US" sz="14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A8A355BD-D392-C865-A09C-FDDBDFEC1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262" y="6515457"/>
            <a:ext cx="949047" cy="1138833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4A0924EC-07C8-453D-A7F3-873F8835AA7D}"/>
              </a:ext>
            </a:extLst>
          </p:cNvPr>
          <p:cNvSpPr/>
          <p:nvPr/>
        </p:nvSpPr>
        <p:spPr>
          <a:xfrm>
            <a:off x="1880235" y="6705243"/>
            <a:ext cx="223313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Retrieval</a:t>
            </a:r>
            <a:endParaRPr lang="en-US" sz="175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866C7B40-E802-B411-D3C1-976F6A43D3D7}"/>
              </a:ext>
            </a:extLst>
          </p:cNvPr>
          <p:cNvSpPr/>
          <p:nvPr/>
        </p:nvSpPr>
        <p:spPr>
          <a:xfrm>
            <a:off x="1880235" y="7087553"/>
            <a:ext cx="1199090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Search and display visitor logs instantly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40887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884B3F-C8AB-8BBB-B80F-DB6E5F232277}"/>
              </a:ext>
            </a:extLst>
          </p:cNvPr>
          <p:cNvSpPr/>
          <p:nvPr/>
        </p:nvSpPr>
        <p:spPr>
          <a:xfrm>
            <a:off x="837724" y="1996559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Modules</a:t>
            </a:r>
            <a:endParaRPr lang="en-US" sz="38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BDF88D1-3865-10EC-9D3D-7C5646121C86}"/>
              </a:ext>
            </a:extLst>
          </p:cNvPr>
          <p:cNvSpPr/>
          <p:nvPr/>
        </p:nvSpPr>
        <p:spPr>
          <a:xfrm>
            <a:off x="837724" y="3031331"/>
            <a:ext cx="4178618" cy="3201710"/>
          </a:xfrm>
          <a:prstGeom prst="roundRect">
            <a:avLst>
              <a:gd name="adj" fmla="val 981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A01416-A249-4079-645F-4F7A6EC3F5DF}"/>
              </a:ext>
            </a:extLst>
          </p:cNvPr>
          <p:cNvSpPr/>
          <p:nvPr/>
        </p:nvSpPr>
        <p:spPr>
          <a:xfrm>
            <a:off x="860584" y="3054191"/>
            <a:ext cx="4132898" cy="628293"/>
          </a:xfrm>
          <a:prstGeom prst="roundRect">
            <a:avLst>
              <a:gd name="adj" fmla="val 635"/>
            </a:avLst>
          </a:prstGeom>
          <a:solidFill>
            <a:srgbClr val="315251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D91E72-06C8-2F69-A777-E397A04A0D4E}"/>
              </a:ext>
            </a:extLst>
          </p:cNvPr>
          <p:cNvSpPr/>
          <p:nvPr/>
        </p:nvSpPr>
        <p:spPr>
          <a:xfrm>
            <a:off x="2769989" y="3171944"/>
            <a:ext cx="314087" cy="39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CF5C63-64C7-5A80-4EB8-8EC0A704F6D9}"/>
              </a:ext>
            </a:extLst>
          </p:cNvPr>
          <p:cNvSpPr/>
          <p:nvPr/>
        </p:nvSpPr>
        <p:spPr>
          <a:xfrm>
            <a:off x="1070015" y="389191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Visitor Entry Page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B94C89-260B-B01D-3F8E-7409397DA114}"/>
              </a:ext>
            </a:extLst>
          </p:cNvPr>
          <p:cNvSpPr/>
          <p:nvPr/>
        </p:nvSpPr>
        <p:spPr>
          <a:xfrm>
            <a:off x="1070015" y="4325541"/>
            <a:ext cx="3714036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HTML form for capturing visitor details including name, contact, purpose of visit, and time of entry. Includes input validation and error handling.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0EF3E3D-5B64-BE90-E697-8CECD405ED74}"/>
              </a:ext>
            </a:extLst>
          </p:cNvPr>
          <p:cNvSpPr/>
          <p:nvPr/>
        </p:nvSpPr>
        <p:spPr>
          <a:xfrm>
            <a:off x="5225772" y="3031331"/>
            <a:ext cx="4178737" cy="3201710"/>
          </a:xfrm>
          <a:prstGeom prst="roundRect">
            <a:avLst>
              <a:gd name="adj" fmla="val 981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1C2CA16-BDF8-9A7D-FA2E-BE9F6E20DE44}"/>
              </a:ext>
            </a:extLst>
          </p:cNvPr>
          <p:cNvSpPr/>
          <p:nvPr/>
        </p:nvSpPr>
        <p:spPr>
          <a:xfrm>
            <a:off x="5248632" y="3054191"/>
            <a:ext cx="4133017" cy="628293"/>
          </a:xfrm>
          <a:prstGeom prst="roundRect">
            <a:avLst>
              <a:gd name="adj" fmla="val 635"/>
            </a:avLst>
          </a:prstGeom>
          <a:solidFill>
            <a:srgbClr val="315251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3E76165-55EC-EF08-F302-A5A470C21D1F}"/>
              </a:ext>
            </a:extLst>
          </p:cNvPr>
          <p:cNvSpPr/>
          <p:nvPr/>
        </p:nvSpPr>
        <p:spPr>
          <a:xfrm>
            <a:off x="7158038" y="3171944"/>
            <a:ext cx="314087" cy="39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F6D13E8-3DF0-251E-B0EC-89E3B415496A}"/>
              </a:ext>
            </a:extLst>
          </p:cNvPr>
          <p:cNvSpPr/>
          <p:nvPr/>
        </p:nvSpPr>
        <p:spPr>
          <a:xfrm>
            <a:off x="5458063" y="389191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Visitor Log Page</a:t>
            </a:r>
            <a:endParaRPr lang="en-US" sz="1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02D9D3C-C824-5794-3BA8-D49FBAE645B6}"/>
              </a:ext>
            </a:extLst>
          </p:cNvPr>
          <p:cNvSpPr/>
          <p:nvPr/>
        </p:nvSpPr>
        <p:spPr>
          <a:xfrm>
            <a:off x="5458063" y="4325541"/>
            <a:ext cx="3714155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Display table showing all visitor records with search functionality to quickly find specific entries. Data presented in organized, readable format.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A9BDF94-CE6B-7412-993B-4FBED383DC2E}"/>
              </a:ext>
            </a:extLst>
          </p:cNvPr>
          <p:cNvSpPr/>
          <p:nvPr/>
        </p:nvSpPr>
        <p:spPr>
          <a:xfrm>
            <a:off x="9613940" y="3031331"/>
            <a:ext cx="4178737" cy="3201710"/>
          </a:xfrm>
          <a:prstGeom prst="roundRect">
            <a:avLst>
              <a:gd name="adj" fmla="val 981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D6DB68C-9DEC-B0B2-CCA0-DBE0342A78B5}"/>
              </a:ext>
            </a:extLst>
          </p:cNvPr>
          <p:cNvSpPr/>
          <p:nvPr/>
        </p:nvSpPr>
        <p:spPr>
          <a:xfrm>
            <a:off x="9636800" y="3054191"/>
            <a:ext cx="4133017" cy="628293"/>
          </a:xfrm>
          <a:prstGeom prst="roundRect">
            <a:avLst>
              <a:gd name="adj" fmla="val 635"/>
            </a:avLst>
          </a:prstGeom>
          <a:solidFill>
            <a:srgbClr val="315251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CBA0B4D-BCA0-06F6-F34A-F2B912AE7DFB}"/>
              </a:ext>
            </a:extLst>
          </p:cNvPr>
          <p:cNvSpPr/>
          <p:nvPr/>
        </p:nvSpPr>
        <p:spPr>
          <a:xfrm>
            <a:off x="11546205" y="3171944"/>
            <a:ext cx="314087" cy="39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4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2CBC273-2361-5E57-118F-0E0C0A52A1C9}"/>
              </a:ext>
            </a:extLst>
          </p:cNvPr>
          <p:cNvSpPr/>
          <p:nvPr/>
        </p:nvSpPr>
        <p:spPr>
          <a:xfrm>
            <a:off x="9846231" y="389191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Processing Module</a:t>
            </a:r>
            <a:endParaRPr lang="en-US" sz="1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8567B3A-9F62-50D2-148C-CB44E87F7667}"/>
              </a:ext>
            </a:extLst>
          </p:cNvPr>
          <p:cNvSpPr/>
          <p:nvPr/>
        </p:nvSpPr>
        <p:spPr>
          <a:xfrm>
            <a:off x="9846231" y="4325541"/>
            <a:ext cx="3714155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JavaScript logic that handles form validation, generates unique visitor IDs, creates QR codes, stores data in LocalStorage, and manages the visitor log display.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5349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5D2F8C-1221-DA05-7F3A-2EF48D8946F7}"/>
              </a:ext>
            </a:extLst>
          </p:cNvPr>
          <p:cNvSpPr/>
          <p:nvPr/>
        </p:nvSpPr>
        <p:spPr>
          <a:xfrm>
            <a:off x="1485543" y="467916"/>
            <a:ext cx="3696295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Working Process</a:t>
            </a:r>
            <a:endParaRPr lang="en-US" sz="2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DF5E6A-84FB-A874-8AD8-D0410235CB35}"/>
              </a:ext>
            </a:extLst>
          </p:cNvPr>
          <p:cNvSpPr/>
          <p:nvPr/>
        </p:nvSpPr>
        <p:spPr>
          <a:xfrm>
            <a:off x="1485543" y="1165622"/>
            <a:ext cx="11659195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system follows a sequential flow from data input to storage and retrieval.</a:t>
            </a: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B9C9E9-75DF-B73C-4791-5F2CFFB5D5A0}"/>
              </a:ext>
            </a:extLst>
          </p:cNvPr>
          <p:cNvSpPr/>
          <p:nvPr/>
        </p:nvSpPr>
        <p:spPr>
          <a:xfrm>
            <a:off x="1642586" y="1753553"/>
            <a:ext cx="157043" cy="706755"/>
          </a:xfrm>
          <a:prstGeom prst="roundRect">
            <a:avLst>
              <a:gd name="adj" fmla="val 15005"/>
            </a:avLst>
          </a:prstGeom>
          <a:solidFill>
            <a:srgbClr val="31525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B7A6DF-F99B-9203-F0FC-B886C81955FE}"/>
              </a:ext>
            </a:extLst>
          </p:cNvPr>
          <p:cNvSpPr/>
          <p:nvPr/>
        </p:nvSpPr>
        <p:spPr>
          <a:xfrm>
            <a:off x="1485543" y="1650444"/>
            <a:ext cx="471249" cy="471249"/>
          </a:xfrm>
          <a:prstGeom prst="roundRect">
            <a:avLst>
              <a:gd name="adj" fmla="val 97019"/>
            </a:avLst>
          </a:prstGeom>
          <a:solidFill>
            <a:srgbClr val="315251"/>
          </a:solidFill>
          <a:ln/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B58542F-5C94-96A4-308F-DCFF7E0C92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3296" y="1768316"/>
            <a:ext cx="235625" cy="23562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A31B216D-C551-ADA1-1366-5A7A54710862}"/>
              </a:ext>
            </a:extLst>
          </p:cNvPr>
          <p:cNvSpPr/>
          <p:nvPr/>
        </p:nvSpPr>
        <p:spPr>
          <a:xfrm>
            <a:off x="2074545" y="1674971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Input Collection</a:t>
            </a:r>
            <a:endParaRPr lang="en-US" sz="14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0839E24-53B9-88BD-27A2-3EA7D8BAFAF9}"/>
              </a:ext>
            </a:extLst>
          </p:cNvPr>
          <p:cNvSpPr/>
          <p:nvPr/>
        </p:nvSpPr>
        <p:spPr>
          <a:xfrm>
            <a:off x="2074545" y="1976557"/>
            <a:ext cx="11070193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Visitor details entered via web form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057172B-1BAA-93A4-427A-283474649E45}"/>
              </a:ext>
            </a:extLst>
          </p:cNvPr>
          <p:cNvSpPr/>
          <p:nvPr/>
        </p:nvSpPr>
        <p:spPr>
          <a:xfrm>
            <a:off x="1878211" y="2813804"/>
            <a:ext cx="157043" cy="706755"/>
          </a:xfrm>
          <a:prstGeom prst="roundRect">
            <a:avLst>
              <a:gd name="adj" fmla="val 15005"/>
            </a:avLst>
          </a:prstGeom>
          <a:solidFill>
            <a:srgbClr val="315251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6E805C1-FFCC-B988-5AC5-C328FEC23FC8}"/>
              </a:ext>
            </a:extLst>
          </p:cNvPr>
          <p:cNvSpPr/>
          <p:nvPr/>
        </p:nvSpPr>
        <p:spPr>
          <a:xfrm>
            <a:off x="1721167" y="2710696"/>
            <a:ext cx="471249" cy="471249"/>
          </a:xfrm>
          <a:prstGeom prst="roundRect">
            <a:avLst>
              <a:gd name="adj" fmla="val 97019"/>
            </a:avLst>
          </a:prstGeom>
          <a:solidFill>
            <a:srgbClr val="315251"/>
          </a:solidFill>
          <a:ln/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C2889C20-5932-1C42-DA93-D8107162B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8920" y="2828568"/>
            <a:ext cx="235625" cy="235625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BDBB24C3-E507-DE58-79A5-41BF19F69A64}"/>
              </a:ext>
            </a:extLst>
          </p:cNvPr>
          <p:cNvSpPr/>
          <p:nvPr/>
        </p:nvSpPr>
        <p:spPr>
          <a:xfrm>
            <a:off x="2310170" y="2735223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9C54BF4-7D8E-7A70-43C0-1B93DB8A99FD}"/>
              </a:ext>
            </a:extLst>
          </p:cNvPr>
          <p:cNvSpPr/>
          <p:nvPr/>
        </p:nvSpPr>
        <p:spPr>
          <a:xfrm>
            <a:off x="2310170" y="3036808"/>
            <a:ext cx="10834568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verified and unique ID generated</a:t>
            </a:r>
            <a:endParaRPr lang="en-US" sz="12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13DF684-CC4A-6DFC-ACEB-D85288055ABB}"/>
              </a:ext>
            </a:extLst>
          </p:cNvPr>
          <p:cNvSpPr/>
          <p:nvPr/>
        </p:nvSpPr>
        <p:spPr>
          <a:xfrm>
            <a:off x="2113836" y="3874056"/>
            <a:ext cx="157043" cy="706755"/>
          </a:xfrm>
          <a:prstGeom prst="roundRect">
            <a:avLst>
              <a:gd name="adj" fmla="val 15005"/>
            </a:avLst>
          </a:prstGeom>
          <a:solidFill>
            <a:srgbClr val="315251"/>
          </a:solidFill>
          <a:ln/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A7B07C8-8613-E1AF-EA4F-8B966D0DC436}"/>
              </a:ext>
            </a:extLst>
          </p:cNvPr>
          <p:cNvSpPr/>
          <p:nvPr/>
        </p:nvSpPr>
        <p:spPr>
          <a:xfrm>
            <a:off x="1956792" y="3770948"/>
            <a:ext cx="471249" cy="471249"/>
          </a:xfrm>
          <a:prstGeom prst="roundRect">
            <a:avLst>
              <a:gd name="adj" fmla="val 97019"/>
            </a:avLst>
          </a:prstGeom>
          <a:solidFill>
            <a:srgbClr val="315251"/>
          </a:solidFill>
          <a:ln/>
        </p:spPr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7280FBF2-2E32-AE64-F854-E169C6FD3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4545" y="3888819"/>
            <a:ext cx="235625" cy="235625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76C12700-F1BA-D5A8-034C-B62F1DBF19F9}"/>
              </a:ext>
            </a:extLst>
          </p:cNvPr>
          <p:cNvSpPr/>
          <p:nvPr/>
        </p:nvSpPr>
        <p:spPr>
          <a:xfrm>
            <a:off x="2545794" y="3795474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Pass Generation</a:t>
            </a:r>
            <a:endParaRPr lang="en-US" sz="14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F35C155-B269-0FBE-E113-1255525EA349}"/>
              </a:ext>
            </a:extLst>
          </p:cNvPr>
          <p:cNvSpPr/>
          <p:nvPr/>
        </p:nvSpPr>
        <p:spPr>
          <a:xfrm>
            <a:off x="2545794" y="4097060"/>
            <a:ext cx="10598944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Professional visitor pass created with details</a:t>
            </a:r>
            <a:endParaRPr lang="en-US" sz="12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4D9B90B1-0E92-FA45-BF5A-8B5DB3AF9E16}"/>
              </a:ext>
            </a:extLst>
          </p:cNvPr>
          <p:cNvSpPr/>
          <p:nvPr/>
        </p:nvSpPr>
        <p:spPr>
          <a:xfrm>
            <a:off x="2349460" y="4934307"/>
            <a:ext cx="157043" cy="706755"/>
          </a:xfrm>
          <a:prstGeom prst="roundRect">
            <a:avLst>
              <a:gd name="adj" fmla="val 15005"/>
            </a:avLst>
          </a:prstGeom>
          <a:solidFill>
            <a:srgbClr val="315251"/>
          </a:solidFill>
          <a:ln/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C5C3D7C9-41A9-53E9-2F66-B529FA47A810}"/>
              </a:ext>
            </a:extLst>
          </p:cNvPr>
          <p:cNvSpPr/>
          <p:nvPr/>
        </p:nvSpPr>
        <p:spPr>
          <a:xfrm>
            <a:off x="2192417" y="4831199"/>
            <a:ext cx="471249" cy="471249"/>
          </a:xfrm>
          <a:prstGeom prst="roundRect">
            <a:avLst>
              <a:gd name="adj" fmla="val 97019"/>
            </a:avLst>
          </a:prstGeom>
          <a:solidFill>
            <a:srgbClr val="315251"/>
          </a:solidFill>
          <a:ln/>
        </p:spPr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FCDFDD32-DE2D-355A-DCB5-4F60972FE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0170" y="4949071"/>
            <a:ext cx="235625" cy="235625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AC6B9DC7-EDDD-E522-5346-6B36CC6F7816}"/>
              </a:ext>
            </a:extLst>
          </p:cNvPr>
          <p:cNvSpPr/>
          <p:nvPr/>
        </p:nvSpPr>
        <p:spPr>
          <a:xfrm>
            <a:off x="2781419" y="4855726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QR Code</a:t>
            </a:r>
            <a:endParaRPr lang="en-US" sz="145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FA1F6A5B-C6C2-C119-A96A-7EC4D62A7DF8}"/>
              </a:ext>
            </a:extLst>
          </p:cNvPr>
          <p:cNvSpPr/>
          <p:nvPr/>
        </p:nvSpPr>
        <p:spPr>
          <a:xfrm>
            <a:off x="2781419" y="5157311"/>
            <a:ext cx="10363319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Scannable QR code embedded in pass</a:t>
            </a:r>
            <a:endParaRPr lang="en-US" sz="12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1183DC48-AC9C-FC29-79E3-3CD09C3974C0}"/>
              </a:ext>
            </a:extLst>
          </p:cNvPr>
          <p:cNvSpPr/>
          <p:nvPr/>
        </p:nvSpPr>
        <p:spPr>
          <a:xfrm>
            <a:off x="2113836" y="5994559"/>
            <a:ext cx="157043" cy="706755"/>
          </a:xfrm>
          <a:prstGeom prst="roundRect">
            <a:avLst>
              <a:gd name="adj" fmla="val 15005"/>
            </a:avLst>
          </a:prstGeom>
          <a:solidFill>
            <a:srgbClr val="315251"/>
          </a:solidFill>
          <a:ln/>
        </p:spPr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31CE431A-73C6-F3F5-71A7-D043B078BECD}"/>
              </a:ext>
            </a:extLst>
          </p:cNvPr>
          <p:cNvSpPr/>
          <p:nvPr/>
        </p:nvSpPr>
        <p:spPr>
          <a:xfrm>
            <a:off x="1956792" y="5891451"/>
            <a:ext cx="471249" cy="471249"/>
          </a:xfrm>
          <a:prstGeom prst="roundRect">
            <a:avLst>
              <a:gd name="adj" fmla="val 97019"/>
            </a:avLst>
          </a:prstGeom>
          <a:solidFill>
            <a:srgbClr val="315251"/>
          </a:solidFill>
          <a:ln/>
        </p:spPr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BBC6B75F-20AC-FA87-365F-84677D1CF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4545" y="6009322"/>
            <a:ext cx="235625" cy="235625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24AC88D6-8DEE-EBEB-787A-BF7E382E7E06}"/>
              </a:ext>
            </a:extLst>
          </p:cNvPr>
          <p:cNvSpPr/>
          <p:nvPr/>
        </p:nvSpPr>
        <p:spPr>
          <a:xfrm>
            <a:off x="2545794" y="5915978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Storage</a:t>
            </a:r>
            <a:endParaRPr lang="en-US" sz="145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71D449ED-F104-2EA1-2658-0F3DE70CC571}"/>
              </a:ext>
            </a:extLst>
          </p:cNvPr>
          <p:cNvSpPr/>
          <p:nvPr/>
        </p:nvSpPr>
        <p:spPr>
          <a:xfrm>
            <a:off x="2545794" y="6217563"/>
            <a:ext cx="10598944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saved to browser LocalStorage</a:t>
            </a:r>
            <a:endParaRPr lang="en-US" sz="12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A9663362-C222-BC08-31A2-C97C93AC5FAC}"/>
              </a:ext>
            </a:extLst>
          </p:cNvPr>
          <p:cNvSpPr/>
          <p:nvPr/>
        </p:nvSpPr>
        <p:spPr>
          <a:xfrm>
            <a:off x="1878211" y="7054810"/>
            <a:ext cx="157043" cy="706755"/>
          </a:xfrm>
          <a:prstGeom prst="roundRect">
            <a:avLst>
              <a:gd name="adj" fmla="val 15005"/>
            </a:avLst>
          </a:prstGeom>
          <a:solidFill>
            <a:srgbClr val="315251"/>
          </a:solidFill>
          <a:ln/>
        </p:spPr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99799C9B-10F6-DD0D-A69A-CD9AC4B148AE}"/>
              </a:ext>
            </a:extLst>
          </p:cNvPr>
          <p:cNvSpPr/>
          <p:nvPr/>
        </p:nvSpPr>
        <p:spPr>
          <a:xfrm>
            <a:off x="1721167" y="6951702"/>
            <a:ext cx="471249" cy="471249"/>
          </a:xfrm>
          <a:prstGeom prst="roundRect">
            <a:avLst>
              <a:gd name="adj" fmla="val 97019"/>
            </a:avLst>
          </a:prstGeom>
          <a:solidFill>
            <a:srgbClr val="315251"/>
          </a:solidFill>
          <a:ln/>
        </p:spPr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D06D33E8-7DE3-1CDA-F765-27BE5A9396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38920" y="7069574"/>
            <a:ext cx="235625" cy="235625"/>
          </a:xfrm>
          <a:prstGeom prst="rect">
            <a:avLst/>
          </a:prstGeom>
        </p:spPr>
      </p:pic>
      <p:sp>
        <p:nvSpPr>
          <p:cNvPr id="32" name="Text 24">
            <a:extLst>
              <a:ext uri="{FF2B5EF4-FFF2-40B4-BE49-F238E27FC236}">
                <a16:creationId xmlns:a16="http://schemas.microsoft.com/office/drawing/2014/main" id="{B35E6E13-2C06-3A30-6702-D4E5FE88F797}"/>
              </a:ext>
            </a:extLst>
          </p:cNvPr>
          <p:cNvSpPr/>
          <p:nvPr/>
        </p:nvSpPr>
        <p:spPr>
          <a:xfrm>
            <a:off x="2310170" y="6976229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Log Display</a:t>
            </a:r>
            <a:endParaRPr lang="en-US" sz="145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A58F2189-FBCF-370E-5F47-691DEBAF28B8}"/>
              </a:ext>
            </a:extLst>
          </p:cNvPr>
          <p:cNvSpPr/>
          <p:nvPr/>
        </p:nvSpPr>
        <p:spPr>
          <a:xfrm>
            <a:off x="2310170" y="7277814"/>
            <a:ext cx="10834568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Complete visitor log available for search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29700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191572-4E24-CB5F-323F-92B1A18E90CF}"/>
              </a:ext>
            </a:extLst>
          </p:cNvPr>
          <p:cNvSpPr/>
          <p:nvPr/>
        </p:nvSpPr>
        <p:spPr>
          <a:xfrm>
            <a:off x="837724" y="1299924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Features</a:t>
            </a:r>
            <a:endParaRPr lang="en-US" sz="38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0F57E65-BD6C-4FF2-2340-247BE41AE5E7}"/>
              </a:ext>
            </a:extLst>
          </p:cNvPr>
          <p:cNvSpPr/>
          <p:nvPr/>
        </p:nvSpPr>
        <p:spPr>
          <a:xfrm>
            <a:off x="837724" y="2334697"/>
            <a:ext cx="4178618" cy="2360295"/>
          </a:xfrm>
          <a:prstGeom prst="roundRect">
            <a:avLst>
              <a:gd name="adj" fmla="val 1331"/>
            </a:avLst>
          </a:prstGeom>
          <a:solidFill>
            <a:srgbClr val="315251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0DF670A-81AB-619C-B21F-AC8F58BDAFDA}"/>
              </a:ext>
            </a:extLst>
          </p:cNvPr>
          <p:cNvSpPr/>
          <p:nvPr/>
        </p:nvSpPr>
        <p:spPr>
          <a:xfrm>
            <a:off x="1047155" y="2544128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EF9C82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03FB863-A624-1391-895A-51A8E0774F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914" y="2716887"/>
            <a:ext cx="282654" cy="28265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122ED08-0831-F704-3C86-E61B703A15CC}"/>
              </a:ext>
            </a:extLst>
          </p:cNvPr>
          <p:cNvSpPr/>
          <p:nvPr/>
        </p:nvSpPr>
        <p:spPr>
          <a:xfrm>
            <a:off x="1047155" y="338185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Unique ID Generation</a:t>
            </a:r>
            <a:endParaRPr lang="en-US" sz="1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87E9232-A5EE-C07B-D701-259D050DDD68}"/>
              </a:ext>
            </a:extLst>
          </p:cNvPr>
          <p:cNvSpPr/>
          <p:nvPr/>
        </p:nvSpPr>
        <p:spPr>
          <a:xfrm>
            <a:off x="1047155" y="3815477"/>
            <a:ext cx="375975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Automatic creation of unique visitor identification numbers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59B32D4-CE10-7C87-EC30-AB25F01C8114}"/>
              </a:ext>
            </a:extLst>
          </p:cNvPr>
          <p:cNvSpPr/>
          <p:nvPr/>
        </p:nvSpPr>
        <p:spPr>
          <a:xfrm>
            <a:off x="5225772" y="2334697"/>
            <a:ext cx="4178737" cy="2360295"/>
          </a:xfrm>
          <a:prstGeom prst="roundRect">
            <a:avLst>
              <a:gd name="adj" fmla="val 1331"/>
            </a:avLst>
          </a:prstGeom>
          <a:solidFill>
            <a:srgbClr val="315251"/>
          </a:solidFill>
          <a:ln/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B9AB7C0-A277-05A3-17C5-A41CA8CD9D9A}"/>
              </a:ext>
            </a:extLst>
          </p:cNvPr>
          <p:cNvSpPr/>
          <p:nvPr/>
        </p:nvSpPr>
        <p:spPr>
          <a:xfrm>
            <a:off x="5435203" y="2544128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EF9C82"/>
          </a:solidFill>
          <a:ln/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665862BE-7EB1-3109-493B-7C0B75B0D0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7963" y="2716887"/>
            <a:ext cx="282654" cy="28265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389FC5C7-968E-E4D2-222F-36665A7F7D5D}"/>
              </a:ext>
            </a:extLst>
          </p:cNvPr>
          <p:cNvSpPr/>
          <p:nvPr/>
        </p:nvSpPr>
        <p:spPr>
          <a:xfrm>
            <a:off x="5435203" y="338185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QR Code Generation</a:t>
            </a:r>
            <a:endParaRPr lang="en-US" sz="19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8F8752B-5D8A-4743-C03C-9B7C0412BB44}"/>
              </a:ext>
            </a:extLst>
          </p:cNvPr>
          <p:cNvSpPr/>
          <p:nvPr/>
        </p:nvSpPr>
        <p:spPr>
          <a:xfrm>
            <a:off x="5435203" y="3815477"/>
            <a:ext cx="375987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Scannable QR codes for quick visitor authentication</a:t>
            </a:r>
            <a:endParaRPr lang="en-US" sz="16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F358CB1-8EFC-6957-D7E4-6C5115E80575}"/>
              </a:ext>
            </a:extLst>
          </p:cNvPr>
          <p:cNvSpPr/>
          <p:nvPr/>
        </p:nvSpPr>
        <p:spPr>
          <a:xfrm>
            <a:off x="9613940" y="2334697"/>
            <a:ext cx="4178737" cy="2360295"/>
          </a:xfrm>
          <a:prstGeom prst="roundRect">
            <a:avLst>
              <a:gd name="adj" fmla="val 1331"/>
            </a:avLst>
          </a:prstGeom>
          <a:solidFill>
            <a:srgbClr val="315251"/>
          </a:solidFill>
          <a:ln/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9CBD45E-9897-7629-15FD-971C745A5A05}"/>
              </a:ext>
            </a:extLst>
          </p:cNvPr>
          <p:cNvSpPr/>
          <p:nvPr/>
        </p:nvSpPr>
        <p:spPr>
          <a:xfrm>
            <a:off x="9823371" y="2544128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EF9C82"/>
          </a:solidFill>
          <a:ln/>
        </p:spPr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E0576B01-152E-30D8-6E3C-608338F8AB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130" y="2716887"/>
            <a:ext cx="282654" cy="282654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5A544EC8-EA97-95F7-3CD0-7DE3E5BAECF7}"/>
              </a:ext>
            </a:extLst>
          </p:cNvPr>
          <p:cNvSpPr/>
          <p:nvPr/>
        </p:nvSpPr>
        <p:spPr>
          <a:xfrm>
            <a:off x="9823371" y="338185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LocalStorage Storage</a:t>
            </a:r>
            <a:endParaRPr lang="en-US" sz="19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DDE25294-98BB-5CA0-5048-DD98C8EF08EA}"/>
              </a:ext>
            </a:extLst>
          </p:cNvPr>
          <p:cNvSpPr/>
          <p:nvPr/>
        </p:nvSpPr>
        <p:spPr>
          <a:xfrm>
            <a:off x="9823371" y="3815477"/>
            <a:ext cx="375987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Persistent data storage within the user's browser</a:t>
            </a:r>
            <a:endParaRPr lang="en-US" sz="16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D0DC1FD-868C-D8D6-C62F-594F034191F8}"/>
              </a:ext>
            </a:extLst>
          </p:cNvPr>
          <p:cNvSpPr/>
          <p:nvPr/>
        </p:nvSpPr>
        <p:spPr>
          <a:xfrm>
            <a:off x="837724" y="4904423"/>
            <a:ext cx="6372701" cy="2025253"/>
          </a:xfrm>
          <a:prstGeom prst="roundRect">
            <a:avLst>
              <a:gd name="adj" fmla="val 1551"/>
            </a:avLst>
          </a:prstGeom>
          <a:solidFill>
            <a:srgbClr val="315251"/>
          </a:solidFill>
          <a:ln/>
        </p:spPr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DDC4ADD0-9E9A-1F77-8BA0-A89F5FBE77CA}"/>
              </a:ext>
            </a:extLst>
          </p:cNvPr>
          <p:cNvSpPr/>
          <p:nvPr/>
        </p:nvSpPr>
        <p:spPr>
          <a:xfrm>
            <a:off x="1047155" y="5113853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EF9C82"/>
          </a:solidFill>
          <a:ln/>
        </p:spPr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5158C42A-617E-3F8E-E3EC-AB0970F26B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914" y="5286613"/>
            <a:ext cx="282654" cy="282654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F0A3973C-EFDC-E299-E0F0-6A6DFC984EAE}"/>
              </a:ext>
            </a:extLst>
          </p:cNvPr>
          <p:cNvSpPr/>
          <p:nvPr/>
        </p:nvSpPr>
        <p:spPr>
          <a:xfrm>
            <a:off x="1047155" y="595157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Search Functionality</a:t>
            </a:r>
            <a:endParaRPr lang="en-US" sz="19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8ED20554-C172-6633-B003-AA2EA97263D4}"/>
              </a:ext>
            </a:extLst>
          </p:cNvPr>
          <p:cNvSpPr/>
          <p:nvPr/>
        </p:nvSpPr>
        <p:spPr>
          <a:xfrm>
            <a:off x="1047155" y="6385203"/>
            <a:ext cx="5953839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Quick search through visitor logs to find specific entries</a:t>
            </a:r>
            <a:endParaRPr lang="en-US" sz="16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20DB52D5-9A3A-F7AC-1E85-4B9F60A2796A}"/>
              </a:ext>
            </a:extLst>
          </p:cNvPr>
          <p:cNvSpPr/>
          <p:nvPr/>
        </p:nvSpPr>
        <p:spPr>
          <a:xfrm>
            <a:off x="7419856" y="4904423"/>
            <a:ext cx="6372820" cy="2025253"/>
          </a:xfrm>
          <a:prstGeom prst="roundRect">
            <a:avLst>
              <a:gd name="adj" fmla="val 1551"/>
            </a:avLst>
          </a:prstGeom>
          <a:solidFill>
            <a:srgbClr val="315251"/>
          </a:solidFill>
          <a:ln/>
        </p:spPr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17412F29-AFDE-416F-08A0-7736F9F26F16}"/>
              </a:ext>
            </a:extLst>
          </p:cNvPr>
          <p:cNvSpPr/>
          <p:nvPr/>
        </p:nvSpPr>
        <p:spPr>
          <a:xfrm>
            <a:off x="7629287" y="5113853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EF9C82"/>
          </a:solidFill>
          <a:ln/>
        </p:spPr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8E0368E2-10D9-1243-DE42-DEF9E2451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2047" y="5286613"/>
            <a:ext cx="282654" cy="282654"/>
          </a:xfrm>
          <a:prstGeom prst="rect">
            <a:avLst/>
          </a:prstGeom>
        </p:spPr>
      </p:pic>
      <p:sp>
        <p:nvSpPr>
          <p:cNvPr id="26" name="Text 19">
            <a:extLst>
              <a:ext uri="{FF2B5EF4-FFF2-40B4-BE49-F238E27FC236}">
                <a16:creationId xmlns:a16="http://schemas.microsoft.com/office/drawing/2014/main" id="{A59C8E13-4767-258E-3691-30B432BA9246}"/>
              </a:ext>
            </a:extLst>
          </p:cNvPr>
          <p:cNvSpPr/>
          <p:nvPr/>
        </p:nvSpPr>
        <p:spPr>
          <a:xfrm>
            <a:off x="7629287" y="595157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Print Option</a:t>
            </a:r>
            <a:endParaRPr lang="en-US" sz="19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3CF5C94A-C61F-81F2-51D9-72EF7D8721DB}"/>
              </a:ext>
            </a:extLst>
          </p:cNvPr>
          <p:cNvSpPr/>
          <p:nvPr/>
        </p:nvSpPr>
        <p:spPr>
          <a:xfrm>
            <a:off x="7629287" y="6385203"/>
            <a:ext cx="595395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Print visitor passes directly from the application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8439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F65E30-0FEC-D1B5-BF53-B61B675AAFDE}"/>
              </a:ext>
            </a:extLst>
          </p:cNvPr>
          <p:cNvSpPr/>
          <p:nvPr/>
        </p:nvSpPr>
        <p:spPr>
          <a:xfrm>
            <a:off x="837724" y="1043940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Output Screens</a:t>
            </a:r>
            <a:endParaRPr lang="en-US" sz="3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70E426-3A33-C9CE-AA68-14613DF37999}"/>
              </a:ext>
            </a:extLst>
          </p:cNvPr>
          <p:cNvSpPr/>
          <p:nvPr/>
        </p:nvSpPr>
        <p:spPr>
          <a:xfrm>
            <a:off x="837724" y="2078712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system generates three main interface screens for visitor management.</a:t>
            </a:r>
            <a:endParaRPr lang="en-US" sz="16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5A806BB-00A8-8592-449A-27C789DE7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44" y="2784753"/>
            <a:ext cx="4201478" cy="4201478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82D11DA-00FF-C4E9-E1E6-6DA893C58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342" y="2784753"/>
            <a:ext cx="4201597" cy="4201597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7508C907-2EF8-397A-1CA5-839C807F7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460" y="2784753"/>
            <a:ext cx="4201597" cy="420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8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2660B6-87F2-1195-C03A-00637606D83D}"/>
              </a:ext>
            </a:extLst>
          </p:cNvPr>
          <p:cNvSpPr/>
          <p:nvPr/>
        </p:nvSpPr>
        <p:spPr>
          <a:xfrm>
            <a:off x="837724" y="1457920"/>
            <a:ext cx="603837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Limitations &amp; Future Scope</a:t>
            </a:r>
            <a:endParaRPr lang="en-US" sz="3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2DA0D4-77A7-C618-BE43-CA4ACDB00D2A}"/>
              </a:ext>
            </a:extLst>
          </p:cNvPr>
          <p:cNvSpPr/>
          <p:nvPr/>
        </p:nvSpPr>
        <p:spPr>
          <a:xfrm>
            <a:off x="837724" y="259734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Current Limitations</a:t>
            </a:r>
            <a:endParaRPr lang="en-US" sz="1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BAE52F-18B7-4C27-EC4A-1AFB78C83264}"/>
              </a:ext>
            </a:extLst>
          </p:cNvPr>
          <p:cNvSpPr/>
          <p:nvPr/>
        </p:nvSpPr>
        <p:spPr>
          <a:xfrm>
            <a:off x="837724" y="3114794"/>
            <a:ext cx="6221968" cy="155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permanent database storage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stored only in browser LocalStorage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user authentication system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Single-user implementation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072E12-E4CB-D422-1F2B-210917543839}"/>
              </a:ext>
            </a:extLst>
          </p:cNvPr>
          <p:cNvSpPr/>
          <p:nvPr/>
        </p:nvSpPr>
        <p:spPr>
          <a:xfrm>
            <a:off x="7578328" y="259734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Future Enhancements</a:t>
            </a:r>
            <a:endParaRPr lang="en-US" sz="1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A993B1-3B78-A3BE-43B5-EAFDCAB51129}"/>
              </a:ext>
            </a:extLst>
          </p:cNvPr>
          <p:cNvSpPr/>
          <p:nvPr/>
        </p:nvSpPr>
        <p:spPr>
          <a:xfrm>
            <a:off x="7578328" y="3114794"/>
            <a:ext cx="6221968" cy="155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Implement database integration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Add user login and authentication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 security features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Multi-user support with roles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F1B583-5005-A056-23ED-731A491AFF25}"/>
              </a:ext>
            </a:extLst>
          </p:cNvPr>
          <p:cNvSpPr/>
          <p:nvPr/>
        </p:nvSpPr>
        <p:spPr>
          <a:xfrm>
            <a:off x="837724" y="5035748"/>
            <a:ext cx="12954952" cy="15597"/>
          </a:xfrm>
          <a:prstGeom prst="rect">
            <a:avLst/>
          </a:prstGeom>
          <a:solidFill>
            <a:srgbClr val="F9EEE7">
              <a:alpha val="50000"/>
            </a:srgbClr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B4AECD-E1EE-FFA9-EBF6-F5BB88911FEA}"/>
              </a:ext>
            </a:extLst>
          </p:cNvPr>
          <p:cNvSpPr/>
          <p:nvPr/>
        </p:nvSpPr>
        <p:spPr>
          <a:xfrm>
            <a:off x="837724" y="5417701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929576B-BE36-ECB5-C094-DAFEC72C596B}"/>
              </a:ext>
            </a:extLst>
          </p:cNvPr>
          <p:cNvSpPr/>
          <p:nvPr/>
        </p:nvSpPr>
        <p:spPr>
          <a:xfrm>
            <a:off x="837724" y="6101477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Visitor Gate Pass Generator successfully addresses manual visitor entry challenges through digital automation. The system reduces paperwork, improves data accuracy, and provides efficient visitor tracking with QR code authentication.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6904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542</Words>
  <Application>Microsoft Office PowerPoint</Application>
  <PresentationFormat>Custom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Quattrocento Light</vt:lpstr>
      <vt:lpstr>Quattrocento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krc sipl</cp:lastModifiedBy>
  <cp:revision>2</cp:revision>
  <dcterms:created xsi:type="dcterms:W3CDTF">2026-04-28T17:50:59Z</dcterms:created>
  <dcterms:modified xsi:type="dcterms:W3CDTF">2026-04-28T18:00:57Z</dcterms:modified>
</cp:coreProperties>
</file>